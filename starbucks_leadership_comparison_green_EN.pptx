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86" r:id="rId2"/>
    <p:sldId id="287" r:id="rId3"/>
    <p:sldId id="258" r:id="rId4"/>
    <p:sldId id="259" r:id="rId5"/>
    <p:sldId id="260" r:id="rId6"/>
    <p:sldId id="261" r:id="rId7"/>
    <p:sldId id="288" r:id="rId8"/>
    <p:sldId id="289" r:id="rId9"/>
    <p:sldId id="264" r:id="rId10"/>
    <p:sldId id="290" r:id="rId11"/>
    <p:sldId id="291" r:id="rId12"/>
    <p:sldId id="267" r:id="rId13"/>
    <p:sldId id="292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93" r:id="rId25"/>
    <p:sldId id="294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960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0793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423FEE0F-7AF6-D392-BFCC-19AA7E1CD75D}"/>
              </a:ext>
            </a:extLst>
          </p:cNvPr>
          <p:cNvGrpSpPr/>
          <p:nvPr/>
        </p:nvGrpSpPr>
        <p:grpSpPr>
          <a:xfrm>
            <a:off x="731520" y="240632"/>
            <a:ext cx="11454064" cy="5919536"/>
            <a:chOff x="731520" y="685800"/>
            <a:chExt cx="11454064" cy="4864608"/>
          </a:xfrm>
        </p:grpSpPr>
        <p:sp>
          <p:nvSpPr>
            <p:cNvPr id="2" name="Text 0"/>
            <p:cNvSpPr/>
            <p:nvPr/>
          </p:nvSpPr>
          <p:spPr>
            <a:xfrm>
              <a:off x="731520" y="685800"/>
              <a:ext cx="4754880" cy="114300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D7F2E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STARBUCKS BRAND LEADERSHIP</a:t>
              </a:r>
              <a:endParaRPr lang="en-US" sz="20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731520" y="1593951"/>
              <a:ext cx="9723922" cy="1508760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>
                <a:buNone/>
              </a:pPr>
              <a:r>
                <a:rPr lang="en-US" sz="48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Why Was Starbucks Shaken?</a:t>
              </a:r>
              <a:endParaRPr lang="en-US" sz="48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777239" y="3801009"/>
              <a:ext cx="11408345" cy="725271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>
                <a:buNone/>
              </a:pPr>
              <a:r>
                <a:rPr lang="en-US" sz="3200" dirty="0">
                  <a:solidFill>
                    <a:srgbClr val="D7F2E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Howard Schultz </a:t>
              </a:r>
              <a:r>
                <a:rPr lang="en-US" sz="2400" dirty="0">
                  <a:solidFill>
                    <a:srgbClr val="D7F2E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vs. </a:t>
              </a:r>
              <a:r>
                <a:rPr lang="en-US" sz="2400" b="1" dirty="0">
                  <a:solidFill>
                    <a:srgbClr val="FF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Chung Yong-</a:t>
              </a:r>
              <a:r>
                <a:rPr lang="en-US" sz="2400" b="1" dirty="0" err="1">
                  <a:solidFill>
                    <a:srgbClr val="FF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jin</a:t>
              </a:r>
              <a:r>
                <a:rPr lang="en-US" sz="2400" b="1" dirty="0">
                  <a:solidFill>
                    <a:srgbClr val="FF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(a second-generation chaebol heir driven by crude commercial capitalism)</a:t>
              </a:r>
              <a:endParaRPr lang="en-US" sz="2400" dirty="0"/>
            </a:p>
            <a:p>
              <a:pPr marL="0" indent="0">
                <a:buNone/>
              </a:pPr>
              <a:r>
                <a:rPr lang="en-US" sz="2400" dirty="0">
                  <a:solidFill>
                    <a:srgbClr val="D7F2E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 clash between global brand philosophy and Korean owner-led retail management</a:t>
              </a:r>
              <a:endParaRPr lang="en-US" sz="24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777240" y="5074920"/>
              <a:ext cx="3977640" cy="475488"/>
            </a:xfrm>
            <a:prstGeom prst="rect">
              <a:avLst/>
            </a:prstGeom>
            <a:solidFill>
              <a:srgbClr val="004B35"/>
            </a:solidFill>
            <a:ln w="12700">
              <a:solidFill>
                <a:srgbClr val="D7F2E5">
                  <a:alpha val="70000"/>
                </a:srgbClr>
              </a:solidFill>
            </a:ln>
          </p:spPr>
          <p:txBody>
            <a:bodyPr wrap="square" lIns="1524" tIns="1524" rIns="1524" bIns="152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 Case for Class Discussion</a:t>
              </a:r>
              <a:endParaRPr lang="en-US" dirty="0"/>
            </a:p>
          </p:txBody>
        </p:sp>
      </p:grpSp>
      <p:sp>
        <p:nvSpPr>
          <p:cNvPr id="6" name="Text 4"/>
          <p:cNvSpPr/>
          <p:nvPr/>
        </p:nvSpPr>
        <p:spPr>
          <a:xfrm>
            <a:off x="11454065" y="6647206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1/30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668432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THESIS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Thesis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" name="Text 3"/>
          <p:cNvSpPr/>
          <p:nvPr/>
        </p:nvSpPr>
        <p:spPr>
          <a:xfrm>
            <a:off x="960120" y="1828800"/>
            <a:ext cx="10287000" cy="1463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same Starbucks name,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very different management philosophies collided.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143000" y="4355435"/>
            <a:ext cx="4754880" cy="1046747"/>
          </a:xfrm>
          <a:prstGeom prst="rect">
            <a:avLst/>
          </a:prstGeom>
          <a:solidFill>
            <a:srgbClr val="004B35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Howard Schultz: a brand built on people, place, and experience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09360" y="4355435"/>
            <a:ext cx="4754880" cy="1046747"/>
          </a:xfrm>
          <a:prstGeom prst="rect">
            <a:avLst/>
          </a:prstGeom>
          <a:solidFill>
            <a:srgbClr val="003B2B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Chung Yong-</a:t>
            </a:r>
            <a:r>
              <a:rPr lang="en-US" sz="1600" b="1" dirty="0" err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</a:t>
            </a:r>
            <a:r>
              <a:rPr lang="en-US" sz="16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 second-generation chaebol heir driven by crude commercial capitalism)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 powerful commercial asset inside Shinsegae’s retail ecosystem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2/30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92769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Question: It Was Not Coffee, But Emotion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5120640" cy="2718180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Essence of the Crisis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was less about product quality and more about the emotions, memories, and trust consumers had attached to the brand.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63640" y="1508760"/>
            <a:ext cx="5120640" cy="2718180"/>
          </a:xfrm>
          <a:prstGeom prst="rect">
            <a:avLst/>
          </a:prstGeom>
          <a:solidFill>
            <a:srgbClr val="003B2B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Question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did one promotional phrase expand into a broader doubt about the brand’s identity and values?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51560" y="4778946"/>
            <a:ext cx="10058400" cy="1143000"/>
          </a:xfrm>
          <a:prstGeom prst="rect">
            <a:avLst/>
          </a:prstGeom>
          <a:solidFill>
            <a:srgbClr val="006241"/>
          </a:solidFill>
          <a:ln w="12700">
            <a:solidFill>
              <a:srgbClr val="D4B46A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brand is not a logo. It is the sum of how consumers feel the brand treats people, society, and collective memory.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3/30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Overview: How the Controversy Spread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solidFill>
            <a:srgbClr val="D4B46A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2057399"/>
            <a:ext cx="2057400" cy="2285995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Promotional Wording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1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Certain words and expressions became controversial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898648" y="1508760"/>
            <a:ext cx="457200" cy="457200"/>
          </a:xfrm>
          <a:prstGeom prst="rect">
            <a:avLst/>
          </a:prstGeom>
          <a:solidFill>
            <a:srgbClr val="D4B46A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898648" y="2057399"/>
            <a:ext cx="2057400" cy="2285995"/>
          </a:xfrm>
          <a:prstGeom prst="rect">
            <a:avLst/>
          </a:prstGeom>
          <a:solidFill>
            <a:srgbClr val="003B2B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Associations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1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Criticism linked them to May 18 and the Park Jong-chul case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202936" y="1508760"/>
            <a:ext cx="457200" cy="457200"/>
          </a:xfrm>
          <a:prstGeom prst="rect">
            <a:avLst/>
          </a:prstGeom>
          <a:solidFill>
            <a:srgbClr val="D4B46A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202936" y="2057399"/>
            <a:ext cx="2057400" cy="2285995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Timing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1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timing collided with public memory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07224" y="1508760"/>
            <a:ext cx="457200" cy="457200"/>
          </a:xfrm>
          <a:prstGeom prst="rect">
            <a:avLst/>
          </a:prstGeom>
          <a:solidFill>
            <a:srgbClr val="D4B46A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507224" y="2057399"/>
            <a:ext cx="2057400" cy="2285995"/>
          </a:xfrm>
          <a:prstGeom prst="rect">
            <a:avLst/>
          </a:prstGeom>
          <a:solidFill>
            <a:srgbClr val="003B2B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Spread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1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discomfort became collective anger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811512" y="1508760"/>
            <a:ext cx="457200" cy="457200"/>
          </a:xfrm>
          <a:prstGeom prst="rect">
            <a:avLst/>
          </a:prstGeom>
          <a:solidFill>
            <a:srgbClr val="D4B46A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3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811512" y="2057399"/>
            <a:ext cx="2057400" cy="2285995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Apology &amp; Accountability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1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for responsibility and prevention followed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14400" y="4901666"/>
            <a:ext cx="10378440" cy="1033271"/>
          </a:xfrm>
          <a:prstGeom prst="rect">
            <a:avLst/>
          </a:prstGeom>
          <a:solidFill>
            <a:srgbClr val="006241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point: a marketing phrase expanded into questions about organizational culture, governance, and historical sensitivity.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4/30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of Brand Value Damage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1874520" cy="685800"/>
          </a:xfrm>
          <a:prstGeom prst="rect">
            <a:avLst/>
          </a:prstGeom>
          <a:solidFill>
            <a:srgbClr val="004B35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Wording Error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87752" y="1993392"/>
            <a:ext cx="320040" cy="365760"/>
          </a:xfrm>
          <a:prstGeom prst="rect">
            <a:avLst/>
          </a:prstGeom>
          <a:solidFill>
            <a:srgbClr val="00704A"/>
          </a:solidFill>
          <a:ln/>
        </p:spPr>
        <p:txBody>
          <a:bodyPr wrap="square" lIns="1524" tIns="1524" rIns="1524" bIns="1524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017520" y="1874520"/>
            <a:ext cx="1874520" cy="685800"/>
          </a:xfrm>
          <a:prstGeom prst="rect">
            <a:avLst/>
          </a:prstGeom>
          <a:solidFill>
            <a:srgbClr val="004B35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Wound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19472" y="1993392"/>
            <a:ext cx="320040" cy="365760"/>
          </a:xfrm>
          <a:prstGeom prst="rect">
            <a:avLst/>
          </a:prstGeom>
          <a:solidFill>
            <a:srgbClr val="00704A"/>
          </a:solidFill>
          <a:ln/>
        </p:spPr>
        <p:txBody>
          <a:bodyPr wrap="square" lIns="1524" tIns="1524" rIns="1524" bIns="1524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349240" y="1874520"/>
            <a:ext cx="1874520" cy="685800"/>
          </a:xfrm>
          <a:prstGeom prst="rect">
            <a:avLst/>
          </a:prstGeom>
          <a:solidFill>
            <a:srgbClr val="004B35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Spread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51192" y="1993392"/>
            <a:ext cx="320040" cy="365760"/>
          </a:xfrm>
          <a:prstGeom prst="rect">
            <a:avLst/>
          </a:prstGeom>
          <a:solidFill>
            <a:srgbClr val="00704A"/>
          </a:solidFill>
          <a:ln/>
        </p:spPr>
        <p:txBody>
          <a:bodyPr wrap="square" lIns="1524" tIns="1524" rIns="1524" bIns="1524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80960" y="1874520"/>
            <a:ext cx="1874520" cy="685800"/>
          </a:xfrm>
          <a:prstGeom prst="rect">
            <a:avLst/>
          </a:prstGeom>
          <a:solidFill>
            <a:srgbClr val="004B35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 of Betrayal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582912" y="1993392"/>
            <a:ext cx="320040" cy="365760"/>
          </a:xfrm>
          <a:prstGeom prst="rect">
            <a:avLst/>
          </a:prstGeom>
          <a:solidFill>
            <a:srgbClr val="00704A"/>
          </a:solidFill>
          <a:ln/>
        </p:spPr>
        <p:txBody>
          <a:bodyPr wrap="square" lIns="1524" tIns="1524" rIns="1524" bIns="1524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012680" y="1874520"/>
            <a:ext cx="1874520" cy="685800"/>
          </a:xfrm>
          <a:prstGeom prst="rect">
            <a:avLst/>
          </a:prstGeom>
          <a:solidFill>
            <a:srgbClr val="8B1E1E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Collapse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14400" y="3549319"/>
            <a:ext cx="10378440" cy="1643510"/>
          </a:xfrm>
          <a:prstGeom prst="rect">
            <a:avLst/>
          </a:prstGeom>
          <a:solidFill>
            <a:srgbClr val="003B2B"/>
          </a:solidFill>
          <a:ln w="10160">
            <a:solidFill>
              <a:srgbClr val="D4B46A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Direct Point of Damage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0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 shook not just Starbucks’ premium image, but its deeper layers of moral legitimacy and its perceived attitude toward people.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5/30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Howard Schultz’s Starbucks Philosophy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3383280" cy="658368"/>
          </a:xfrm>
          <a:prstGeom prst="rect">
            <a:avLst/>
          </a:prstGeom>
          <a:solidFill>
            <a:srgbClr val="004B35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Place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0" y="1600200"/>
            <a:ext cx="3383280" cy="658368"/>
          </a:xfrm>
          <a:prstGeom prst="rect">
            <a:avLst/>
          </a:prstGeom>
          <a:solidFill>
            <a:srgbClr val="004B35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Connection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75320" y="1600200"/>
            <a:ext cx="3383280" cy="658368"/>
          </a:xfrm>
          <a:prstGeom prst="rect">
            <a:avLst/>
          </a:prstGeom>
          <a:solidFill>
            <a:srgbClr val="004B35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Culture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2606039"/>
            <a:ext cx="3383280" cy="2651759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Place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Schultz defined Starbucks as an urban and emotional space where people stay, connect, and feel welcomed between home and work.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56762" y="2606039"/>
            <a:ext cx="3383280" cy="2651759"/>
          </a:xfrm>
          <a:prstGeom prst="rect">
            <a:avLst/>
          </a:prstGeom>
          <a:solidFill>
            <a:srgbClr val="003B2B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Connection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is the medium. The essence is connection, hospitality, and relational experience.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82540" y="2606039"/>
            <a:ext cx="3383280" cy="2651759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Culture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are not merely workers; they are partners who co-create the brand experience.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6/30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Chung Yong-</a:t>
            </a:r>
            <a:r>
              <a:rPr lang="en-US" sz="2800" b="1" dirty="0" err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</a:t>
            </a: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 second-generation chaebol heir driven by crude commercial capitalism)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’s Retail Management Language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3383280" cy="658368"/>
          </a:xfrm>
          <a:prstGeom prst="rect">
            <a:avLst/>
          </a:prstGeom>
          <a:solidFill>
            <a:srgbClr val="004B35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On-site Management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0" y="1600200"/>
            <a:ext cx="3383280" cy="658368"/>
          </a:xfrm>
          <a:prstGeom prst="rect">
            <a:avLst/>
          </a:prstGeom>
          <a:solidFill>
            <a:srgbClr val="004B35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Destination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75320" y="1600200"/>
            <a:ext cx="3383280" cy="658368"/>
          </a:xfrm>
          <a:prstGeom prst="rect">
            <a:avLst/>
          </a:prstGeom>
          <a:solidFill>
            <a:srgbClr val="004B35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Dominant No. 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606039"/>
            <a:ext cx="4983480" cy="2290809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</a:t>
            </a:r>
            <a:r>
              <a:rPr lang="en-US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</a:t>
            </a:r>
            <a:endParaRPr lang="en-US" sz="240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
</a:t>
            </a: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becomes a powerful customer touchpoint inside Shinsegae’s department store, E-Mart, mall, and membership ecosystem.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55080" y="2606039"/>
            <a:ext cx="4983480" cy="2290809"/>
          </a:xfrm>
          <a:prstGeom prst="rect">
            <a:avLst/>
          </a:prstGeom>
          <a:solidFill>
            <a:srgbClr val="003B2B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Language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public language centers more on the field, customers, sales, competitiveness, and execution than on community and belonging.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60120" y="5236146"/>
            <a:ext cx="10241280" cy="685800"/>
          </a:xfrm>
          <a:prstGeom prst="rect">
            <a:avLst/>
          </a:prstGeom>
          <a:solidFill>
            <a:srgbClr val="006241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does not mean disregard for employees; it means the center of gravity in public leadership language is different.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7/30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080629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Founder-type Leader vs. Chaebol Successor-type Leader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194560" cy="859536"/>
          </a:xfrm>
          <a:prstGeom prst="rect">
            <a:avLst/>
          </a:prstGeom>
          <a:solidFill>
            <a:srgbClr val="003B2B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880360" y="1417320"/>
            <a:ext cx="4343400" cy="859536"/>
          </a:xfrm>
          <a:prstGeom prst="rect">
            <a:avLst/>
          </a:prstGeom>
          <a:solidFill>
            <a:srgbClr val="003B2B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Howard Schultz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0" y="1417320"/>
            <a:ext cx="4297680" cy="859536"/>
          </a:xfrm>
          <a:prstGeom prst="rect">
            <a:avLst/>
          </a:prstGeom>
          <a:solidFill>
            <a:srgbClr val="003B2B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Chung Yong-</a:t>
            </a:r>
            <a:r>
              <a:rPr lang="en-US" sz="1600" b="1" dirty="0" err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</a:t>
            </a:r>
            <a:r>
              <a:rPr lang="en-US" sz="16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 second-generation chaebol heir driven by crude commercial capitalism)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276856"/>
            <a:ext cx="2194560" cy="859536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of Authority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80360" y="2276856"/>
            <a:ext cx="4343400" cy="859536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Founder-like symbolism from building the brand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23760" y="2276856"/>
            <a:ext cx="4297680" cy="859536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succession inside the Shinsegae owner-family structure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136392"/>
            <a:ext cx="2194560" cy="859536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Identity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80360" y="3136392"/>
            <a:ext cx="4343400" cy="859536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leader who protects the soul of the brand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3136392"/>
            <a:ext cx="4297680" cy="859536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owner-manager who drives retail-group performance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995928"/>
            <a:ext cx="2194560" cy="859536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Image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80360" y="3995928"/>
            <a:ext cx="4343400" cy="859536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 of Starbucks philosophy and culture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23760" y="3995928"/>
            <a:ext cx="4297680" cy="859536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of a Korean retail and consumer platform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855464"/>
            <a:ext cx="2194560" cy="859536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Language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80360" y="4855464"/>
            <a:ext cx="4343400" cy="859536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connection, Third Place, partners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23760" y="4855464"/>
            <a:ext cx="4297680" cy="859536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Field, customer, dominant No. 1, shopping destination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8/30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443639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59" y="566928"/>
            <a:ext cx="11591225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Philosophy: “Third Place” vs. “Shopping Destination”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5257800" cy="4480560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Schultz-style Starbucks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is the medium; the essence is relationship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brand is an emotional community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are people who stay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store is a social space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72200" y="1417320"/>
            <a:ext cx="5257800" cy="4480560"/>
          </a:xfrm>
          <a:prstGeom prst="rect">
            <a:avLst/>
          </a:prstGeom>
          <a:solidFill>
            <a:srgbClr val="003B2B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Chung Yong-</a:t>
            </a:r>
            <a:r>
              <a:rPr lang="en-US" altLang="ko-KR" sz="2400" b="1" dirty="0" err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</a:t>
            </a:r>
            <a:r>
              <a:rPr lang="en-US" altLang="ko-KR" sz="2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 second-generation chaebol heir driven by crude commercial capitalism)</a:t>
            </a:r>
            <a:endParaRPr lang="en-US" altLang="ko-KR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-style Retail Management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store is a consumption touchpoint that must perform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brand is a retail portfolio asset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buy and return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store is a competitive field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9/30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Views of the Customer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" name="Text 3"/>
          <p:cNvSpPr/>
          <p:nvPr/>
        </p:nvSpPr>
        <p:spPr>
          <a:xfrm>
            <a:off x="822960" y="1645919"/>
            <a:ext cx="5120640" cy="2730205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Howard Schultz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0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are not merely buying coffee. They are spending time, seeking belonging, and experiencing connection.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63640" y="1645919"/>
            <a:ext cx="5120640" cy="2730205"/>
          </a:xfrm>
          <a:prstGeom prst="rect">
            <a:avLst/>
          </a:prstGeom>
          <a:solidFill>
            <a:srgbClr val="003B2B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Chung Yong-</a:t>
            </a:r>
            <a:r>
              <a:rPr lang="en-US" sz="2800" b="1" dirty="0" err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</a:t>
            </a: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 second-generation chaebol heir driven by crude commercial capitalism)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0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experience, buy, and return at retail touchpoints. The core is being chosen as a store and ecosystem.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400" y="5036422"/>
            <a:ext cx="10378440" cy="777240"/>
          </a:xfrm>
          <a:prstGeom prst="rect">
            <a:avLst/>
          </a:prstGeom>
          <a:solidFill>
            <a:srgbClr val="006241"/>
          </a:solidFill>
          <a:ln w="12700">
            <a:solidFill>
              <a:srgbClr val="D4B46A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difference: does leadership prioritize the experience of staying, or the performance of purchase and return?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10/30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101901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People-first Philosophy: “Partners” vs. “Field Staff”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194560" cy="868680"/>
          </a:xfrm>
          <a:prstGeom prst="rect">
            <a:avLst/>
          </a:prstGeom>
          <a:solidFill>
            <a:srgbClr val="003B2B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80360" y="1417320"/>
            <a:ext cx="4343400" cy="868680"/>
          </a:xfrm>
          <a:prstGeom prst="rect">
            <a:avLst/>
          </a:prstGeom>
          <a:solidFill>
            <a:srgbClr val="003B2B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Howard Schultz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23760" y="1417320"/>
            <a:ext cx="4297680" cy="868680"/>
          </a:xfrm>
          <a:prstGeom prst="rect">
            <a:avLst/>
          </a:prstGeom>
          <a:solidFill>
            <a:srgbClr val="003B2B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Chung Yong-</a:t>
            </a:r>
            <a:r>
              <a:rPr lang="en-US" b="1" dirty="0" err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 second-generation chaebol heir driven by crude commercial capitalism)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2194560" cy="868680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Label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80360" y="2286000"/>
            <a:ext cx="4343400" cy="868680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Partner: a companion who helps create the brand experience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23760" y="2286000"/>
            <a:ext cx="4297680" cy="868680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staff: members who generate performance at customer touchpoints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154680"/>
            <a:ext cx="2194560" cy="868680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Symbol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80360" y="3154680"/>
            <a:ext cx="4343400" cy="868680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 Stock, health benefits, employee-welfare narrative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3154680"/>
            <a:ext cx="4297680" cy="868680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Field, customer, execution, No. 1 strategy narrative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4023360"/>
            <a:ext cx="2194560" cy="868680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&amp; People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80360" y="4023360"/>
            <a:ext cx="4343400" cy="868680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are the soul of the brand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23760" y="4023360"/>
            <a:ext cx="4297680" cy="868680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are central to service quality and operational execution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892040"/>
            <a:ext cx="2194560" cy="868680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Point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80360" y="4892040"/>
            <a:ext cx="4343400" cy="868680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weakens when “partners” clash with labor rights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23760" y="4892040"/>
            <a:ext cx="4297680" cy="868680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distance grows if performance language overwhelms people-first values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11/30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434340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Temperature of Leadership Language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4480560" cy="393192"/>
          </a:xfrm>
          <a:prstGeom prst="rect">
            <a:avLst/>
          </a:prstGeom>
          <a:solidFill>
            <a:srgbClr val="004B35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Schultz’s Language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0" y="1508760"/>
            <a:ext cx="4480560" cy="393192"/>
          </a:xfrm>
          <a:prstGeom prst="rect">
            <a:avLst/>
          </a:prstGeom>
          <a:solidFill>
            <a:srgbClr val="003B2B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Chung’s</a:t>
            </a:r>
            <a:r>
              <a:rPr lang="en-US" altLang="ko-KR" sz="11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second-generation chaebol heir driven by crude commercial capitalism)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Language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2148840"/>
            <a:ext cx="4023360" cy="411480"/>
          </a:xfrm>
          <a:prstGeom prst="rect">
            <a:avLst/>
          </a:prstGeom>
          <a:solidFill>
            <a:srgbClr val="004B35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Warmth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2834640"/>
            <a:ext cx="4023360" cy="411480"/>
          </a:xfrm>
          <a:prstGeom prst="rect">
            <a:avLst/>
          </a:prstGeom>
          <a:solidFill>
            <a:srgbClr val="004B35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3520440"/>
            <a:ext cx="4023360" cy="411480"/>
          </a:xfrm>
          <a:prstGeom prst="rect">
            <a:avLst/>
          </a:prstGeom>
          <a:solidFill>
            <a:srgbClr val="004B35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4206240"/>
            <a:ext cx="4023360" cy="411480"/>
          </a:xfrm>
          <a:prstGeom prst="rect">
            <a:avLst/>
          </a:prstGeom>
          <a:solidFill>
            <a:srgbClr val="004B35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4892040"/>
            <a:ext cx="4023360" cy="411480"/>
          </a:xfrm>
          <a:prstGeom prst="rect">
            <a:avLst/>
          </a:prstGeom>
          <a:solidFill>
            <a:srgbClr val="004B35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Place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12280" y="2148840"/>
            <a:ext cx="4023360" cy="411480"/>
          </a:xfrm>
          <a:prstGeom prst="rect">
            <a:avLst/>
          </a:prstGeom>
          <a:solidFill>
            <a:srgbClr val="003B2B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12280" y="2834640"/>
            <a:ext cx="4023360" cy="411480"/>
          </a:xfrm>
          <a:prstGeom prst="rect">
            <a:avLst/>
          </a:prstGeom>
          <a:solidFill>
            <a:srgbClr val="003B2B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12280" y="3520440"/>
            <a:ext cx="4023360" cy="411480"/>
          </a:xfrm>
          <a:prstGeom prst="rect">
            <a:avLst/>
          </a:prstGeom>
          <a:solidFill>
            <a:srgbClr val="003B2B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12280" y="4206240"/>
            <a:ext cx="4023360" cy="411480"/>
          </a:xfrm>
          <a:prstGeom prst="rect">
            <a:avLst/>
          </a:prstGeom>
          <a:solidFill>
            <a:srgbClr val="003B2B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12280" y="4892040"/>
            <a:ext cx="4023360" cy="411480"/>
          </a:xfrm>
          <a:prstGeom prst="rect">
            <a:avLst/>
          </a:prstGeom>
          <a:solidFill>
            <a:srgbClr val="003B2B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Destination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4400" y="5669280"/>
            <a:ext cx="10378440" cy="548640"/>
          </a:xfrm>
          <a:prstGeom prst="rect">
            <a:avLst/>
          </a:prstGeom>
          <a:solidFill>
            <a:srgbClr val="006241"/>
          </a:solidFill>
          <a:ln w="12700">
            <a:solidFill>
              <a:srgbClr val="D4B46A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brand crisis, how a company apologizes and recovers matters as much as what it originally did.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12/30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 and Social Image Management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148840" cy="877824"/>
          </a:xfrm>
          <a:prstGeom prst="rect">
            <a:avLst/>
          </a:prstGeom>
          <a:solidFill>
            <a:srgbClr val="003B2B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834640" y="1417320"/>
            <a:ext cx="4389120" cy="877824"/>
          </a:xfrm>
          <a:prstGeom prst="rect">
            <a:avLst/>
          </a:prstGeom>
          <a:solidFill>
            <a:srgbClr val="003B2B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Howard Schultz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23760" y="1417320"/>
            <a:ext cx="4297680" cy="877824"/>
          </a:xfrm>
          <a:prstGeom prst="rect">
            <a:avLst/>
          </a:prstGeom>
          <a:solidFill>
            <a:srgbClr val="003B2B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Chung Yong-</a:t>
            </a:r>
            <a:r>
              <a:rPr lang="en-US" sz="1400" b="1" dirty="0" err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</a:t>
            </a: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 second-generation chaebol heir driven by crude commercial capitalism)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295144"/>
            <a:ext cx="2148840" cy="877824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 Image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2295144"/>
            <a:ext cx="4389120" cy="877824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citizenship, employee welfare, and community capitalism; still criticized on labor issues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23760" y="2295144"/>
            <a:ext cx="4297680" cy="877824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risk from social-media comments and political-symbol consumption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172968"/>
            <a:ext cx="2148840" cy="877824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of Controversy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3172968"/>
            <a:ext cx="4389120" cy="877824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with unions and labor rights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23760" y="3172968"/>
            <a:ext cx="4297680" cy="877824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with history, ideology, and political sensitivity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4050792"/>
            <a:ext cx="2148840" cy="877824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Burden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4050792"/>
            <a:ext cx="4389120" cy="877824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clash with unions while calling employees partners?”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23760" y="4050792"/>
            <a:ext cx="4297680" cy="877824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would Starbucks touch wounds in Korean modern history?”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928616"/>
            <a:ext cx="2148840" cy="877824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 Interpretation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4928616"/>
            <a:ext cx="4389120" cy="877824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between brand philosophy and labor reality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23760" y="4928616"/>
            <a:ext cx="4297680" cy="877824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linkage between owner image and organizational culture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13/30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375664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Most Directly Linked to This Case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5074920" cy="3291840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Fatal for Schultz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Starbucks has been defined as human connection and a Third Place, any perception that it treated historical pain lightly shakes the soul of the brand.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63640" y="1508760"/>
            <a:ext cx="5074920" cy="3291840"/>
          </a:xfrm>
          <a:prstGeom prst="rect">
            <a:avLst/>
          </a:prstGeom>
          <a:solidFill>
            <a:srgbClr val="003B2B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Fatal for </a:t>
            </a:r>
            <a:r>
              <a:rPr lang="en-US" altLang="ko-KR" sz="2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Chung Yong-</a:t>
            </a:r>
            <a:r>
              <a:rPr lang="en-US" altLang="ko-KR" sz="2000" b="1" dirty="0" err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</a:t>
            </a:r>
            <a:r>
              <a:rPr lang="en-US" altLang="ko-KR" sz="2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 second-generation chaebol heir driven by crude commercial capitalism)</a:t>
            </a:r>
            <a:endParaRPr lang="en-US" altLang="ko-KR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Korean operator’s owner image, political symbols, and organizational review failure can be interpreted together, it expands from a simple mistake into a governance risk.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5257800"/>
            <a:ext cx="10058400" cy="594360"/>
          </a:xfrm>
          <a:prstGeom prst="rect">
            <a:avLst/>
          </a:prstGeom>
          <a:solidFill>
            <a:srgbClr val="006241"/>
          </a:solidFill>
          <a:ln w="12700">
            <a:solidFill>
              <a:srgbClr val="D4B46A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incident damages the brand differently depending on the leadership narrative behind it.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14/30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Decisive Difference: Historical Sensitivity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 3"/>
          <p:cNvSpPr/>
          <p:nvPr/>
        </p:nvSpPr>
        <p:spPr>
          <a:xfrm>
            <a:off x="960120" y="1691640"/>
            <a:ext cx="10287000" cy="1463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Korean market, corporate language is not merely advertising.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be read as an attitude toward history.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51560" y="4343400"/>
            <a:ext cx="10058400" cy="914400"/>
          </a:xfrm>
          <a:prstGeom prst="rect">
            <a:avLst/>
          </a:prstGeom>
          <a:solidFill>
            <a:srgbClr val="003B2B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words appear connected to deeply rooted public memories such as the May 18 Democratic Uprising or the Park Jong-chul torture-death case, consumers may see not a “mistake” but “insensitivity.”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15/30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Becomes Damage to Schultz’s Brand Soul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3383280" cy="2148840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Identity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clashes directly with Human Connection. A warm Third Place appears to have touched a social wound.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434840" y="1508760"/>
            <a:ext cx="3383280" cy="2148840"/>
          </a:xfrm>
          <a:prstGeom prst="rect">
            <a:avLst/>
          </a:prstGeom>
          <a:solidFill>
            <a:srgbClr val="003B2B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Emotion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turns into betrayal: “This brand says it understands people, but not our society’s memory.”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0" y="1508760"/>
            <a:ext cx="3383280" cy="2148840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Essence of Crisis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becomes a mismatch between the brand promise and actual behavior, not a mere marketing error.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10378440" cy="731520"/>
          </a:xfrm>
          <a:prstGeom prst="rect">
            <a:avLst/>
          </a:prstGeom>
          <a:solidFill>
            <a:srgbClr val="006241"/>
          </a:solidFill>
          <a:ln w="12700">
            <a:solidFill>
              <a:srgbClr val="D4B46A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Schultz’s Starbucks, this is a crack in the self-narrative of a people-centered brand.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16/30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 lnSpcReduction="20000"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Expands into Owner Risk for </a:t>
            </a:r>
            <a:r>
              <a:rPr lang="en-US" altLang="ko-KR" sz="2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Chung Yong-</a:t>
            </a:r>
            <a:r>
              <a:rPr lang="en-US" altLang="ko-KR" sz="2000" b="1" dirty="0" err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</a:t>
            </a:r>
            <a:r>
              <a:rPr lang="en-US" altLang="ko-KR" sz="2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 second-generation chaebol heir driven by crude commercial capitalism)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3383280" cy="2331720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 Image Linkage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4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social-media and political symbols may be recalled, so the promotional wording can be interpreted as more than a mistake.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34840" y="1508760"/>
            <a:ext cx="3383280" cy="2331720"/>
          </a:xfrm>
          <a:prstGeom prst="rect">
            <a:avLst/>
          </a:prstGeom>
          <a:solidFill>
            <a:srgbClr val="003B2B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System Failure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4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raises doubts about whether marketing, legal, PR, and cultural-sensitivity checks worked properly.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0" y="1508760"/>
            <a:ext cx="3383280" cy="2331720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Risk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4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between the Korean operator and the global brand philosophy becomes visible.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10378440" cy="731520"/>
          </a:xfrm>
          <a:prstGeom prst="rect">
            <a:avLst/>
          </a:prstGeom>
          <a:solidFill>
            <a:srgbClr val="006241"/>
          </a:solidFill>
          <a:ln w="12700">
            <a:solidFill>
              <a:srgbClr val="D4B46A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 fontScale="92500" lnSpcReduction="20000"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Starbucks Korea </a:t>
            </a:r>
            <a:r>
              <a:rPr lang="en-US" altLang="ko-KR" sz="2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Chung Yong-</a:t>
            </a:r>
            <a:r>
              <a:rPr lang="en-US" altLang="ko-KR" sz="2000" b="1" dirty="0" err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</a:t>
            </a:r>
            <a:r>
              <a:rPr lang="en-US" altLang="ko-KR" sz="2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 second-generation chaebol heir driven by crude commercial capitalism) 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context, the issue is a gap between operating philosophy and brand philosophy.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17/30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 of Starbucks Korea’s Governance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5074920" cy="2240280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Brand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 remember Starbucks as a global premium experience: Third Place, people-centered service, and urban lifestyle.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63640" y="1508760"/>
            <a:ext cx="5074920" cy="2240280"/>
          </a:xfrm>
          <a:prstGeom prst="rect">
            <a:avLst/>
          </a:prstGeom>
          <a:solidFill>
            <a:srgbClr val="003B2B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Operator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Korea, the Shinsegae/E-Mart-centered licensing structure actually implements the brand experience.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4343400"/>
            <a:ext cx="10058400" cy="822960"/>
          </a:xfrm>
          <a:prstGeom prst="rect">
            <a:avLst/>
          </a:prstGeom>
          <a:solidFill>
            <a:srgbClr val="006241"/>
          </a:solidFill>
          <a:ln w="12700">
            <a:solidFill>
              <a:srgbClr val="D4B46A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brand may be American, but the operating risk emerges from the judgment and review system of the Korean organization.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18/30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Between Global Brand and Local Operation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3017520" cy="393192"/>
          </a:xfrm>
          <a:prstGeom prst="rect">
            <a:avLst/>
          </a:prstGeom>
          <a:solidFill>
            <a:srgbClr val="004B35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Image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17320"/>
            <a:ext cx="3017520" cy="393192"/>
          </a:xfrm>
          <a:prstGeom prst="rect">
            <a:avLst/>
          </a:prstGeom>
          <a:solidFill>
            <a:srgbClr val="003B2B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Reality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1417320"/>
            <a:ext cx="3017520" cy="393192"/>
          </a:xfrm>
          <a:prstGeom prst="rect">
            <a:avLst/>
          </a:prstGeom>
          <a:solidFill>
            <a:srgbClr val="004B35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Interpretation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3154680" cy="2194560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American-style Feeling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Place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People-centered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lifestyle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6280" y="2057400"/>
            <a:ext cx="3154680" cy="2194560"/>
          </a:xfrm>
          <a:prstGeom prst="rect">
            <a:avLst/>
          </a:prstGeom>
          <a:solidFill>
            <a:srgbClr val="003B2B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Korean Retail Logic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touchpoints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and performance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ecosystem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83880" y="2057400"/>
            <a:ext cx="3154680" cy="2194560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Gap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Starbucks I knew and Starbucks Korea feel different.”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10378440" cy="685800"/>
          </a:xfrm>
          <a:prstGeom prst="rect">
            <a:avLst/>
          </a:prstGeom>
          <a:solidFill>
            <a:srgbClr val="006241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consistency is proven not by headquarters slogans, but by repeated operating judgments on the ground.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19/30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Fatal Point of Brand Damage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11018520" cy="1463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premium brand collapses not when its price is high,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when consumers lose their reason to believe.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51560" y="4155707"/>
            <a:ext cx="10058400" cy="1198346"/>
          </a:xfrm>
          <a:prstGeom prst="rect">
            <a:avLst/>
          </a:prstGeom>
          <a:solidFill>
            <a:srgbClr val="003B2B"/>
          </a:solidFill>
          <a:ln w="12700">
            <a:solidFill>
              <a:srgbClr val="D4B46A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damage in this case is not product quality, but moral legitimacy, social sensitivity, and brand character.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20/30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of Organizational Review Systems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4983480" cy="1463040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
</a:t>
            </a: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the team focus only on wit, clicks, and promotional effect?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09360" y="1508760"/>
            <a:ext cx="4983480" cy="1463040"/>
          </a:xfrm>
          <a:prstGeom prst="rect">
            <a:avLst/>
          </a:prstGeom>
          <a:solidFill>
            <a:srgbClr val="003B2B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
</a:t>
            </a: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Legally safe does not mean socially safe.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4983480" cy="1463040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
</a:t>
            </a: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the risk of public escalation anticipated?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09360" y="3520440"/>
            <a:ext cx="4983480" cy="1463040"/>
          </a:xfrm>
          <a:prstGeom prst="rect">
            <a:avLst/>
          </a:prstGeom>
          <a:solidFill>
            <a:srgbClr val="003B2B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Sensitivity
</a:t>
            </a: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Were history, region, and generational memory reviewed?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05840" y="5532120"/>
            <a:ext cx="10149840" cy="566928"/>
          </a:xfrm>
          <a:prstGeom prst="rect">
            <a:avLst/>
          </a:prstGeom>
          <a:solidFill>
            <a:srgbClr val="006241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to crisis prevention is not a checklist, but a meeting structure where different sensitivities can collide before launch.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21/30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from the Initial Response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194560" cy="859536"/>
          </a:xfrm>
          <a:prstGeom prst="rect">
            <a:avLst/>
          </a:prstGeom>
          <a:solidFill>
            <a:srgbClr val="003B2B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Area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880360" y="1417320"/>
            <a:ext cx="4343400" cy="859536"/>
          </a:xfrm>
          <a:prstGeom prst="rect">
            <a:avLst/>
          </a:prstGeom>
          <a:solidFill>
            <a:srgbClr val="003B2B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 Response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23760" y="1417320"/>
            <a:ext cx="4297680" cy="859536"/>
          </a:xfrm>
          <a:prstGeom prst="rect">
            <a:avLst/>
          </a:prstGeom>
          <a:solidFill>
            <a:srgbClr val="003B2B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Response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276856"/>
            <a:ext cx="2194560" cy="859536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Wording Change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80360" y="2276856"/>
            <a:ext cx="4343400" cy="859536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Quietly remove or change the problematic phrase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23760" y="2276856"/>
            <a:ext cx="4297680" cy="859536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 why it caused pain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136392"/>
            <a:ext cx="2194560" cy="859536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Apology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80360" y="3136392"/>
            <a:ext cx="4343400" cy="859536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vague expression of regret for discomfort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3136392"/>
            <a:ext cx="4297680" cy="859536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responsibility, empathy, and prevention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995928"/>
            <a:ext cx="2194560" cy="859536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80360" y="3995928"/>
            <a:ext cx="4343400" cy="859536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it to a working-level error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23760" y="3995928"/>
            <a:ext cx="4297680" cy="859536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review-system and leadership responsibility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855464"/>
            <a:ext cx="2194560" cy="859536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Action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80360" y="4855464"/>
            <a:ext cx="4343400" cy="859536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the event as a one-off matter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23760" y="4855464"/>
            <a:ext cx="4297680" cy="859536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historical/cultural sensitivity training and approval processes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22/30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of Consumer Anger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2057400" cy="1371600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Discomfort
</a:t>
            </a:r>
            <a:r>
              <a:rPr lang="en-US" sz="16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“Something feels wrong.”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990088" y="1828800"/>
            <a:ext cx="2057400" cy="1371600"/>
          </a:xfrm>
          <a:prstGeom prst="rect">
            <a:avLst/>
          </a:prstGeom>
          <a:solidFill>
            <a:srgbClr val="003B2B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Betrayal
</a:t>
            </a:r>
            <a:r>
              <a:rPr lang="en-US" sz="16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were ignored.”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294376" y="1828800"/>
            <a:ext cx="2057400" cy="1371600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Collective Identity
</a:t>
            </a:r>
            <a:r>
              <a:rPr lang="en-US" sz="16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“This is about our history.”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98664" y="1828800"/>
            <a:ext cx="2057400" cy="1371600"/>
          </a:xfrm>
          <a:prstGeom prst="rect">
            <a:avLst/>
          </a:prstGeom>
          <a:solidFill>
            <a:srgbClr val="006241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Boycott Behavior
</a:t>
            </a:r>
            <a:r>
              <a:rPr lang="en-US" sz="16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protest through consumption.”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902952" y="1828800"/>
            <a:ext cx="2057400" cy="1371600"/>
          </a:xfrm>
          <a:prstGeom prst="rect">
            <a:avLst/>
          </a:prstGeom>
          <a:solidFill>
            <a:srgbClr val="006241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Memory
</a:t>
            </a:r>
            <a:r>
              <a:rPr lang="en-US" sz="16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remember this brand.”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10378440" cy="777240"/>
          </a:xfrm>
          <a:prstGeom prst="rect">
            <a:avLst/>
          </a:prstGeom>
          <a:solidFill>
            <a:srgbClr val="003B2B"/>
          </a:solidFill>
          <a:ln w="12700">
            <a:solidFill>
              <a:srgbClr val="D4B46A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anger travels faster than information. Brand recovery moves slower than an apology.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23/30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Most Extreme Differences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5" name="Text 3"/>
          <p:cNvSpPr/>
          <p:nvPr/>
        </p:nvSpPr>
        <p:spPr>
          <a:xfrm>
            <a:off x="594360" y="1298448"/>
            <a:ext cx="2194560" cy="453044"/>
          </a:xfrm>
          <a:prstGeom prst="rect">
            <a:avLst/>
          </a:prstGeom>
          <a:solidFill>
            <a:srgbClr val="003B2B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88920" y="1298448"/>
            <a:ext cx="4407408" cy="453044"/>
          </a:xfrm>
          <a:prstGeom prst="rect">
            <a:avLst/>
          </a:prstGeom>
          <a:solidFill>
            <a:srgbClr val="003B2B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Howard Schultz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0" y="1298448"/>
            <a:ext cx="5516880" cy="453044"/>
          </a:xfrm>
          <a:prstGeom prst="rect">
            <a:avLst/>
          </a:prstGeom>
          <a:solidFill>
            <a:srgbClr val="003B2B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Chung Yong-</a:t>
            </a:r>
            <a:r>
              <a:rPr lang="en-US" sz="1600" b="1" dirty="0" err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</a:t>
            </a:r>
            <a:r>
              <a:rPr lang="en-US" sz="16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 second-generation chaebol heir driven by crude commercial capitalism)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751492"/>
            <a:ext cx="2194560" cy="453044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Point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88920" y="1751492"/>
            <a:ext cx="4407408" cy="453044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Self-made business leader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96000" y="1751492"/>
            <a:ext cx="5516880" cy="453044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Chaebol successor-type leader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204535"/>
            <a:ext cx="2194560" cy="453044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 to Starbucks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88920" y="2204535"/>
            <a:ext cx="4407408" cy="453044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 who created brand identity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96000" y="2204535"/>
            <a:ext cx="5516880" cy="453044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Retail-group owner with Korean operating control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2657579"/>
            <a:ext cx="2194560" cy="453044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Philosophy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88920" y="2657579"/>
            <a:ext cx="4407408" cy="453044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connection, Third Place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96000" y="2657579"/>
            <a:ext cx="5516880" cy="453044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management, shopping destination, dominant No. 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3110623"/>
            <a:ext cx="2194560" cy="453044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View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88920" y="3110623"/>
            <a:ext cx="4407408" cy="453044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employees, but partners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96000" y="3110623"/>
            <a:ext cx="5516880" cy="453044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who produce field performance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3563666"/>
            <a:ext cx="2194560" cy="453044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View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88920" y="3563666"/>
            <a:ext cx="4407408" cy="453044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experience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96000" y="3563666"/>
            <a:ext cx="5516880" cy="453044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competitiveness and customer touchpoints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" y="4016710"/>
            <a:ext cx="2194560" cy="453044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88920" y="4016710"/>
            <a:ext cx="4407408" cy="453044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Warmth, relationship, trust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96000" y="4016710"/>
            <a:ext cx="5516880" cy="453044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Strength, competition, No. 1, execution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" y="4469753"/>
            <a:ext cx="2194560" cy="453044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88920" y="4469753"/>
            <a:ext cx="4407408" cy="453044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 rights and union conflict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96000" y="4469753"/>
            <a:ext cx="5516880" cy="453044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 image and historical sensitivity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4922797"/>
            <a:ext cx="2194560" cy="453044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Image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88920" y="4922797"/>
            <a:ext cx="4407408" cy="453044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brand philosopher CEO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96000" y="4922797"/>
            <a:ext cx="5516880" cy="453044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Social-media-style retail owner CEO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94360" y="5375841"/>
            <a:ext cx="2194560" cy="453044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Essence of Starbucks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88920" y="5375841"/>
            <a:ext cx="4407408" cy="453044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beyond coffee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96000" y="5375841"/>
            <a:ext cx="5516880" cy="453044"/>
          </a:xfrm>
          <a:prstGeom prst="rect">
            <a:avLst/>
          </a:prstGeom>
          <a:solidFill>
            <a:srgbClr val="006241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Powerful consumption platform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4360" y="5828884"/>
            <a:ext cx="2194560" cy="453044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Symbolism of This Case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88920" y="5828884"/>
            <a:ext cx="4407408" cy="453044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Damage to Schultz philosophy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096000" y="5828884"/>
            <a:ext cx="5516880" cy="453044"/>
          </a:xfrm>
          <a:prstGeom prst="rect">
            <a:avLst/>
          </a:prstGeom>
          <a:solidFill>
            <a:srgbClr val="004B35"/>
          </a:solidFill>
          <a:ln w="5715">
            <a:solidFill>
              <a:srgbClr val="D7F2E5">
                <a:alpha val="38000"/>
              </a:srgbClr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Explosion of owner risk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24/30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8532145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Type Matrix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4572000" cy="457200"/>
          </a:xfrm>
          <a:prstGeom prst="rect">
            <a:avLst/>
          </a:prstGeom>
          <a:solidFill>
            <a:srgbClr val="004B35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Philosophy-centered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675120" y="1417320"/>
            <a:ext cx="4572000" cy="457200"/>
          </a:xfrm>
          <a:prstGeom prst="rect">
            <a:avLst/>
          </a:prstGeom>
          <a:solidFill>
            <a:srgbClr val="003B2B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Performance-centered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4572000" cy="2011680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Howard Schultz
</a:t>
            </a: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Founder-type brand leadership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the soul and symbols of the brand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75120" y="2148840"/>
            <a:ext cx="4572000" cy="2011680"/>
          </a:xfrm>
          <a:prstGeom prst="rect">
            <a:avLst/>
          </a:prstGeom>
          <a:solidFill>
            <a:srgbClr val="003B2B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Chung Yong-</a:t>
            </a:r>
            <a:r>
              <a:rPr lang="en-US" sz="2800" b="1" dirty="0" err="1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</a:t>
            </a: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 second-generation chaebol heir driven by crude commercial capitalism)
</a:t>
            </a: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Owner-led retail leadership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field, customer, and performance at the center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97280" y="4892040"/>
            <a:ext cx="10012680" cy="749808"/>
          </a:xfrm>
          <a:prstGeom prst="rect">
            <a:avLst/>
          </a:prstGeom>
          <a:solidFill>
            <a:srgbClr val="006241"/>
          </a:solidFill>
          <a:ln w="12700">
            <a:solidFill>
              <a:srgbClr val="D4B46A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of collision: the brand speaks of “human experience,” while operation moves through a “performance system.”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25/30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3773994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Implications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4983480" cy="1463040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Management
</a:t>
            </a: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between brand promise and on-site execution is essential.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09360" y="1508760"/>
            <a:ext cx="4983480" cy="1463040"/>
          </a:xfrm>
          <a:prstGeom prst="rect">
            <a:avLst/>
          </a:prstGeom>
          <a:solidFill>
            <a:srgbClr val="003B2B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 Management
</a:t>
            </a: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response requires sincerity and accountability, not just speed.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4983480" cy="1463040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Management
</a:t>
            </a: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Consumers, employees, victim groups, headquarters, and investors all interpret the event.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09360" y="3520440"/>
            <a:ext cx="4983480" cy="1463040"/>
          </a:xfrm>
          <a:prstGeom prst="rect">
            <a:avLst/>
          </a:prstGeom>
          <a:solidFill>
            <a:srgbClr val="003B2B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 &amp; Culture
</a:t>
            </a: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sensitivity toward social memory is a brand asset.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26/30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Questions for Class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10378440" cy="713232"/>
          </a:xfrm>
          <a:prstGeom prst="rect">
            <a:avLst/>
          </a:prstGeom>
          <a:solidFill>
            <a:srgbClr val="004B35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How is a global brand philosophy transformed inside local owner-led management?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10378440" cy="713232"/>
          </a:xfrm>
          <a:prstGeom prst="rect">
            <a:avLst/>
          </a:prstGeom>
          <a:solidFill>
            <a:srgbClr val="003B2B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When does corporate language stop being advertising and become an attitude toward history?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10378440" cy="713232"/>
          </a:xfrm>
          <a:prstGeom prst="rect">
            <a:avLst/>
          </a:prstGeom>
          <a:solidFill>
            <a:srgbClr val="004B35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 a crisis, should leaders apologize first or redesign the system first?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10378440" cy="713232"/>
          </a:xfrm>
          <a:prstGeom prst="rect">
            <a:avLst/>
          </a:prstGeom>
          <a:solidFill>
            <a:srgbClr val="003B2B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must Starbucks recover: sales, trust, or both?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14400" y="5623560"/>
            <a:ext cx="10378440" cy="566928"/>
          </a:xfrm>
          <a:prstGeom prst="rect">
            <a:avLst/>
          </a:prstGeom>
          <a:solidFill>
            <a:srgbClr val="006241"/>
          </a:solidFill>
          <a:ln w="12700">
            <a:solidFill>
              <a:srgbClr val="D4B46A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Meta-question: When I look at a brand, do I see only the product, or how that brand treats people and society?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27/30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Starbucks Korea Should Learn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3383280" cy="1828800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Realign Brand Philosophy
</a:t>
            </a:r>
            <a:r>
              <a:rPr lang="en-US" sz="16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the global Starbucks ideas of Third Place and people-centered experience into Korean operating language.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34840" y="1417320"/>
            <a:ext cx="3383280" cy="1828800"/>
          </a:xfrm>
          <a:prstGeom prst="rect">
            <a:avLst/>
          </a:prstGeom>
          <a:solidFill>
            <a:srgbClr val="003B2B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Institutionalize Cultural Review
</a:t>
            </a:r>
            <a:r>
              <a:rPr lang="en-US" sz="16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historical, generational, and regional sensitivity checks to marketing, legal, and PR review.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46720" y="1417320"/>
            <a:ext cx="3383280" cy="1828800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Shift Leadership Language
</a:t>
            </a:r>
            <a:r>
              <a:rPr lang="en-US" sz="16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and No. 1 language alone cannot restore premium-brand trust.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06040" y="3794760"/>
            <a:ext cx="3383280" cy="1645920"/>
          </a:xfrm>
          <a:prstGeom prst="rect">
            <a:avLst/>
          </a:prstGeom>
          <a:solidFill>
            <a:srgbClr val="003B2B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Restore People-centered Trust
</a:t>
            </a:r>
            <a:r>
              <a:rPr lang="en-US" sz="16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employees and customers not as operating targets, but as a community that restores the brand together.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72200" y="3794760"/>
            <a:ext cx="3383280" cy="1645920"/>
          </a:xfrm>
          <a:prstGeom prst="rect">
            <a:avLst/>
          </a:prstGeom>
          <a:solidFill>
            <a:srgbClr val="004B35"/>
          </a:solidFill>
          <a:ln w="10160">
            <a:solidFill>
              <a:srgbClr val="D7F2E5">
                <a:alpha val="5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Learn in Public
</a:t>
            </a:r>
            <a:r>
              <a:rPr lang="en-US" sz="160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recovery begins when the company openly shows what it learned and what it changed.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28/30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LEADERSHIP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Instructor’s 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" name="Text 3"/>
          <p:cNvSpPr/>
          <p:nvPr/>
        </p:nvSpPr>
        <p:spPr>
          <a:xfrm>
            <a:off x="960120" y="1600200"/>
            <a:ext cx="10287000" cy="1463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brand is reborn not through its logo,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through the philosophy of the people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operate it.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60120" y="4617720"/>
            <a:ext cx="10287000" cy="868680"/>
          </a:xfrm>
          <a:prstGeom prst="rect">
            <a:avLst/>
          </a:prstGeom>
          <a:solidFill>
            <a:srgbClr val="003B2B"/>
          </a:solidFill>
          <a:ln w="12700">
            <a:solidFill>
              <a:srgbClr val="D4B46A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case is not simply about one phrase. It is a clash between the human symbolism of a global brand and the retail, owner-led management culture of the Korean operator.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29/30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7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3035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MESSAGE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8813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Message: A Crisis of Attitude Toward People and History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1018520" cy="0"/>
          </a:xfrm>
          <a:prstGeom prst="line">
            <a:avLst/>
          </a:prstGeom>
          <a:noFill/>
          <a:ln w="15240">
            <a:solidFill>
              <a:srgbClr val="D4B46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5" name="Text 3"/>
          <p:cNvSpPr/>
          <p:nvPr/>
        </p:nvSpPr>
        <p:spPr>
          <a:xfrm>
            <a:off x="960120" y="1554480"/>
            <a:ext cx="10287000" cy="1463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Starbucks crisis is not a crisis of coffee.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crisis of how a brand treats people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history.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60120" y="4788568"/>
            <a:ext cx="10287000" cy="1349944"/>
          </a:xfrm>
          <a:prstGeom prst="rect">
            <a:avLst/>
          </a:prstGeom>
          <a:solidFill>
            <a:srgbClr val="003B2B"/>
          </a:solidFill>
          <a:ln w="12700">
            <a:solidFill>
              <a:srgbClr val="D7F2E5">
                <a:alpha val="7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user-provided manuscript, Starbucks official materials, and public reporting such as Reuters, The Guardian, and Yonhap. Prepared as a business-school case analysis, not as defamation or personal attack.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4360" y="6473952"/>
            <a:ext cx="63093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Starbucks Korea Case | Brand Leadership Comparison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454065" y="6647205"/>
            <a:ext cx="7315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7F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30/30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4D45F8A-20FD-4677-B684-9A5E54255D3F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18066da3-dd3f-4c70-912d-ccbdf38612a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2684</Words>
  <Application>Microsoft Office PowerPoint</Application>
  <PresentationFormat>와이드스크린</PresentationFormat>
  <Paragraphs>411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2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Starbucks Korea Was Shaken</dc:title>
  <dc:subject>Starbucks Korea controversy and brand leadership comparison</dc:subject>
  <dc:creator>OpenAI</dc:creator>
  <cp:lastModifiedBy>안영찬/경영전문대학원</cp:lastModifiedBy>
  <cp:revision>2</cp:revision>
  <dcterms:created xsi:type="dcterms:W3CDTF">2026-05-20T13:00:00Z</dcterms:created>
  <dcterms:modified xsi:type="dcterms:W3CDTF">2026-05-20T14:05:05Z</dcterms:modified>
</cp:coreProperties>
</file>